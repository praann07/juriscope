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1" r:id="rId15"/>
    <p:sldId id="272" r:id="rId16"/>
    <p:sldId id="273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946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8665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9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2238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1828800"/>
            <a:ext cx="5943600" cy="5943600"/>
          </a:xfrm>
          <a:prstGeom prst="ellipse">
            <a:avLst/>
          </a:prstGeom>
          <a:solidFill>
            <a:srgbClr val="1E3350"/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24406A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685800"/>
            <a:ext cx="777240" cy="77724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6" name="Image 0" descr="/home/claude/legalrag_ppt/icons/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841" y="786841"/>
            <a:ext cx="509299" cy="50929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2331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22AIE305  ·  INTRODUCTION TO CLOUD COMPUTING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640080" y="26517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JuriScope</a:t>
            </a:r>
            <a:endParaRPr lang="en-US" sz="6000" dirty="0"/>
          </a:p>
        </p:txBody>
      </p:sp>
      <p:sp>
        <p:nvSpPr>
          <p:cNvPr id="11" name="Text 7"/>
          <p:cNvSpPr/>
          <p:nvPr/>
        </p:nvSpPr>
        <p:spPr>
          <a:xfrm>
            <a:off x="685800" y="3703320"/>
            <a:ext cx="8961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Legal Document Assistant on a Cloud-Native RAG Architecture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685800" y="4572000"/>
            <a:ext cx="2926080" cy="0"/>
          </a:xfrm>
          <a:prstGeom prst="line">
            <a:avLst/>
          </a:prstGeom>
          <a:noFill/>
          <a:ln w="12700">
            <a:solidFill>
              <a:srgbClr val="748CA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85800" y="489204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Zeroth Review Presentation
</a:t>
            </a:r>
            <a:r>
              <a:rPr lang="en-US" sz="125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Group: ____   |   Section: AIE ____
Mamidala Som Praneeth Babu  ·  CB.SC.U4AIE24029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Legal Research Is Slow, Expensive, and Inaccessible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505935"/>
              </p:ext>
            </p:extLst>
          </p:nvPr>
        </p:nvGraphicFramePr>
        <p:xfrm>
          <a:off x="548640" y="1600200"/>
          <a:ext cx="6492240" cy="3108960"/>
        </p:xfrm>
        <a:graphic>
          <a:graphicData uri="http://schemas.openxmlformats.org/drawingml/2006/table">
            <a:tbl>
              <a:tblPr/>
              <a:tblGrid>
                <a:gridCol w="320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2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C9A2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Lawyers and students spend hours manually reading lengthy court judgments to find specific rulings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C9A2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Existing tools like Westlaw and LexisNexis are proprietary and expensive — not accessible to students or citizens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C9A2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Court PDFs are unstructured — no way to ask a plain-English question and get a direct answer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C9A2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open, cloud-native tool lets you upload any legal document and query it conversationally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272067" y="1430536"/>
            <a:ext cx="4804913" cy="63957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7413864" y="2249108"/>
            <a:ext cx="4089288" cy="73550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5659075" y="6346088"/>
            <a:ext cx="4089288" cy="19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350448" y="4595012"/>
            <a:ext cx="4297680" cy="1737360"/>
          </a:xfrm>
          <a:prstGeom prst="roundRect">
            <a:avLst>
              <a:gd name="adj" fmla="val 5263"/>
            </a:avLst>
          </a:prstGeom>
          <a:solidFill>
            <a:srgbClr val="EFEAD9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0" name="Text 7"/>
          <p:cNvSpPr/>
          <p:nvPr/>
        </p:nvSpPr>
        <p:spPr>
          <a:xfrm>
            <a:off x="5751377" y="5070424"/>
            <a:ext cx="37490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gap:  </a:t>
            </a:r>
            <a:r>
              <a:rPr lang="en-US" sz="1300" i="1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open, cloud-native system combines legal document upload, semantic search, and conversational AI in one place.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4BB464D0-4FA2-5418-CCAA-A8B7501DCB30}"/>
              </a:ext>
            </a:extLst>
          </p:cNvPr>
          <p:cNvSpPr/>
          <p:nvPr/>
        </p:nvSpPr>
        <p:spPr>
          <a:xfrm>
            <a:off x="776378" y="4608728"/>
            <a:ext cx="4297680" cy="1737360"/>
          </a:xfrm>
          <a:prstGeom prst="roundRect">
            <a:avLst>
              <a:gd name="adj" fmla="val 5263"/>
            </a:avLst>
          </a:prstGeom>
          <a:solidFill>
            <a:srgbClr val="EFEAD9"/>
          </a:solidFill>
          <a:ln w="12700">
            <a:solidFill>
              <a:srgbClr val="C9A24B"/>
            </a:solidFill>
            <a:prstDash val="solid"/>
          </a:ln>
        </p:spPr>
        <p:txBody>
          <a:bodyPr/>
          <a:lstStyle/>
          <a:p>
            <a:pPr algn="ctr"/>
            <a:r>
              <a:rPr lang="en-US" sz="3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20+ min</a:t>
            </a:r>
            <a:endParaRPr lang="en-US" sz="3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FD8A7B-378F-AA05-4955-1786C695D72D}"/>
              </a:ext>
            </a:extLst>
          </p:cNvPr>
          <p:cNvSpPr txBox="1"/>
          <p:nvPr/>
        </p:nvSpPr>
        <p:spPr>
          <a:xfrm>
            <a:off x="1069675" y="5227608"/>
            <a:ext cx="377837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>
                <a:solidFill>
                  <a:schemeClr val="tx1">
                    <a:lumMod val="95000"/>
                    <a:lumOff val="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manually find one ruling inside a 48-page Supreme Court judgment</a:t>
            </a:r>
            <a:endParaRPr lang="en-US" sz="1400" i="1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endParaRPr lang="en-IN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Existing Systems Comparison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301752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Q&amp;A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Own Docs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Cloud-Native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Westlaw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legal DB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proprietary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LexisNexis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legal DB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proprietary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ChatGPT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grounding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NotebookLM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5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This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5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 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5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RAG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5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PDF/TXT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5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Azure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5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A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548640" y="489204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i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 </a:t>
            </a:r>
            <a:r>
              <a:rPr lang="en-US" sz="13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 system combines legal-domain focus, PDF upload, grounded AI answers, and cloud deployment.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 &amp; Scope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6309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4C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292608" cy="292608"/>
          </a:xfrm>
          <a:prstGeom prst="ellipse">
            <a:avLst/>
          </a:prstGeom>
          <a:solidFill>
            <a:srgbClr val="15223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2024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87552" y="186537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system where users upload legal PDFs and query them in plain English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487168"/>
            <a:ext cx="292608" cy="292608"/>
          </a:xfrm>
          <a:prstGeom prst="ellipse">
            <a:avLst/>
          </a:prstGeom>
          <a:solidFill>
            <a:srgbClr val="152238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871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87552" y="243230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Retrieval-Augmented Generation (RAG) to ground every answer in the actual document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054096"/>
            <a:ext cx="292608" cy="292608"/>
          </a:xfrm>
          <a:prstGeom prst="ellipse">
            <a:avLst/>
          </a:prstGeom>
          <a:solidFill>
            <a:srgbClr val="152238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05409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299923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uploaded PDFs in cloud object storage (Azure Blob)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21024"/>
            <a:ext cx="292608" cy="292608"/>
          </a:xfrm>
          <a:prstGeom prst="ellipse">
            <a:avLst/>
          </a:prstGeom>
          <a:solidFill>
            <a:srgbClr val="152238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6210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87552" y="356616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full system on Microsoft Azure using PaaS services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187952"/>
            <a:ext cx="292608" cy="292608"/>
          </a:xfrm>
          <a:prstGeom prst="ellipse">
            <a:avLst/>
          </a:prstGeom>
          <a:solidFill>
            <a:srgbClr val="152238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18795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87552" y="413308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session-based multi-user querying with conversation history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178040" y="1554480"/>
            <a:ext cx="448056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06640" y="1691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406640" y="2011680"/>
            <a:ext cx="406908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✦"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PDF and TXT legal documents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✦"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grounded strictly in indexed documents — no hallucination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✦"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indexed demo documents: Smith v. Johnson (US) and Rajnesh vs. Neha, Supreme Court India (2020)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✦"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Demonstrator with real documents — not a production legal platform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178040" y="4297680"/>
            <a:ext cx="448056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0" y="4434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406640" y="4754880"/>
            <a:ext cx="406908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✕"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court database integration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✕"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for scanned / image-based PDFs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✕"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application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✕"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Multi-language support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Needs a Cloud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workload demands it — not a preference, a requirement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508760" y="1819656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is CPU-heavy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508760" y="214884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all-mpnet-base-v2 (768D) is slow to run locally on every query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1508760" y="2368296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 must scale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1508760" y="2642616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search across thousands of chunks needs a managed index, not a local file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1508760" y="3099816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inference needs GPU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1508760" y="3429000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 is impossible on a laptop — trivial via the Groq Cloud API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1508760" y="3635171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grows indefinitely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1508760" y="3971256"/>
            <a:ext cx="4069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storage is unbounded and unsuited to app-server disk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79120" y="525780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52238"/>
          </a:solidFill>
          <a:ln/>
        </p:spPr>
      </p:sp>
      <p:sp>
        <p:nvSpPr>
          <p:cNvPr id="26" name="Text 20"/>
          <p:cNvSpPr/>
          <p:nvPr/>
        </p:nvSpPr>
        <p:spPr>
          <a:xfrm>
            <a:off x="731520" y="53492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MODEL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731520" y="5586984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— Azure App Service runs the container, no VM/OS management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4297680" y="525780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52238"/>
          </a:solidFill>
          <a:ln/>
        </p:spPr>
      </p:sp>
      <p:sp>
        <p:nvSpPr>
          <p:cNvPr id="29" name="Text 23"/>
          <p:cNvSpPr/>
          <p:nvPr/>
        </p:nvSpPr>
        <p:spPr>
          <a:xfrm>
            <a:off x="4480560" y="53492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4480560" y="5586984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Cloud — Microsoft Azure + external managed APIs</a:t>
            </a:r>
            <a:endParaRPr lang="en-US" sz="950" dirty="0"/>
          </a:p>
        </p:txBody>
      </p:sp>
      <p:sp>
        <p:nvSpPr>
          <p:cNvPr id="31" name="Shape 25"/>
          <p:cNvSpPr/>
          <p:nvPr/>
        </p:nvSpPr>
        <p:spPr>
          <a:xfrm>
            <a:off x="8046720" y="525780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52238"/>
          </a:solidFill>
          <a:ln/>
        </p:spPr>
      </p:sp>
      <p:sp>
        <p:nvSpPr>
          <p:cNvPr id="32" name="Text 26"/>
          <p:cNvSpPr/>
          <p:nvPr/>
        </p:nvSpPr>
        <p:spPr>
          <a:xfrm>
            <a:off x="8229600" y="53492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MODEL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8229600" y="5586984"/>
            <a:ext cx="3200400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 decoupled from compute — each scales independently</a:t>
            </a:r>
            <a:endParaRPr lang="en-US" sz="950" dirty="0"/>
          </a:p>
        </p:txBody>
      </p:sp>
      <p:sp>
        <p:nvSpPr>
          <p:cNvPr id="34" name="Text 2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35" name="Text 2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6DE1A323-A88F-0369-8C89-D9C37EEAC775}"/>
              </a:ext>
            </a:extLst>
          </p:cNvPr>
          <p:cNvSpPr/>
          <p:nvPr/>
        </p:nvSpPr>
        <p:spPr>
          <a:xfrm>
            <a:off x="845389" y="1699404"/>
            <a:ext cx="5046453" cy="2820492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MAPPING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Concepts Applied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310896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Course Unit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Applied As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delivery &amp; deployment models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4C6A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PaaS (Azure App Service), Public Cloud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compute &amp; object storage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4C6A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App Service, Azure Blob Storage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522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Containerisation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4C6A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Docker, Azure Container Registry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93776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FEAD9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22960" y="507492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 </a:t>
            </a:r>
            <a:r>
              <a:rPr lang="en-US" sz="1300" i="1" dirty="0">
                <a:solidFill>
                  <a:srgbClr val="3A32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course unit maps to a real, working decision in this project — not a theoretical checklist. The architecture is chosen because the workload needs it, and the course concepts explain why.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4" name="Text 5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7635240" cy="4160520"/>
          </a:xfrm>
          <a:prstGeom prst="roundRect">
            <a:avLst>
              <a:gd name="adj" fmla="val 2198"/>
            </a:avLst>
          </a:prstGeom>
          <a:solidFill>
            <a:srgbClr val="1B2F4E"/>
          </a:solidFill>
          <a:ln w="12700">
            <a:solidFill>
              <a:srgbClr val="748CAB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777240" y="1554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68680" y="1965960"/>
            <a:ext cx="2743200" cy="868680"/>
          </a:xfrm>
          <a:prstGeom prst="roundRect">
            <a:avLst>
              <a:gd name="adj" fmla="val 7368"/>
            </a:avLst>
          </a:prstGeom>
          <a:solidFill>
            <a:srgbClr val="1E3350"/>
          </a:solidFill>
          <a:ln w="12700">
            <a:solidFill>
              <a:srgbClr val="4C6A8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96696" y="2180844"/>
            <a:ext cx="438912" cy="438912"/>
          </a:xfrm>
          <a:prstGeom prst="ellipse">
            <a:avLst/>
          </a:prstGeom>
          <a:solidFill>
            <a:srgbClr val="4C6A8A"/>
          </a:solidFill>
          <a:ln/>
        </p:spPr>
      </p:sp>
      <p:pic>
        <p:nvPicPr>
          <p:cNvPr id="8" name="Image 0" descr="/home/claude/legalrag_ppt/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755" y="2237903"/>
            <a:ext cx="324795" cy="32479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27048" y="205740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Static Web Apps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527048" y="2331720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5029200" y="1965960"/>
            <a:ext cx="2834640" cy="868680"/>
          </a:xfrm>
          <a:prstGeom prst="roundRect">
            <a:avLst>
              <a:gd name="adj" fmla="val 7368"/>
            </a:avLst>
          </a:prstGeom>
          <a:solidFill>
            <a:srgbClr val="1E3350"/>
          </a:solidFill>
          <a:ln w="12700">
            <a:solidFill>
              <a:srgbClr val="4C6A8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157216" y="2180844"/>
            <a:ext cx="438912" cy="438912"/>
          </a:xfrm>
          <a:prstGeom prst="ellipse">
            <a:avLst/>
          </a:prstGeom>
          <a:solidFill>
            <a:srgbClr val="4C6A8A"/>
          </a:solidFill>
          <a:ln/>
        </p:spPr>
      </p:sp>
      <p:pic>
        <p:nvPicPr>
          <p:cNvPr id="13" name="Image 1" descr="/home/claude/legalrag_ppt/icons/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4275" y="2237903"/>
            <a:ext cx="324795" cy="32479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87568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App Service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687568" y="233172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(Docker), Port 8000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611880" y="2395728"/>
            <a:ext cx="1417320" cy="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  <a:tailEnd type="triangle"/>
          </a:ln>
        </p:spPr>
      </p:sp>
      <p:sp>
        <p:nvSpPr>
          <p:cNvPr id="17" name="Text 13"/>
          <p:cNvSpPr/>
          <p:nvPr/>
        </p:nvSpPr>
        <p:spPr>
          <a:xfrm>
            <a:off x="3657600" y="207568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748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446520" y="2834640"/>
            <a:ext cx="0" cy="502920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868680" y="3703320"/>
            <a:ext cx="2286000" cy="1051560"/>
          </a:xfrm>
          <a:prstGeom prst="roundRect">
            <a:avLst>
              <a:gd name="adj" fmla="val 6087"/>
            </a:avLst>
          </a:prstGeom>
          <a:solidFill>
            <a:srgbClr val="1E3350"/>
          </a:solidFill>
          <a:ln w="12700">
            <a:solidFill>
              <a:srgbClr val="4C6A8A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996696" y="4009644"/>
            <a:ext cx="438912" cy="438912"/>
          </a:xfrm>
          <a:prstGeom prst="ellipse">
            <a:avLst/>
          </a:prstGeom>
          <a:solidFill>
            <a:srgbClr val="4C6A8A"/>
          </a:solidFill>
          <a:ln/>
        </p:spPr>
      </p:sp>
      <p:pic>
        <p:nvPicPr>
          <p:cNvPr id="21" name="Image 2" descr="/home/claude/legalrag_ppt/icons/f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3755" y="4066703"/>
            <a:ext cx="324795" cy="32479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1527048" y="3794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 Storage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1527048" y="40690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files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3383280" y="3703320"/>
            <a:ext cx="2286000" cy="1051560"/>
          </a:xfrm>
          <a:prstGeom prst="roundRect">
            <a:avLst>
              <a:gd name="adj" fmla="val 6087"/>
            </a:avLst>
          </a:prstGeom>
          <a:solidFill>
            <a:srgbClr val="1E3350"/>
          </a:solidFill>
          <a:ln w="12700">
            <a:solidFill>
              <a:srgbClr val="4C6A8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3511296" y="4009644"/>
            <a:ext cx="438912" cy="438912"/>
          </a:xfrm>
          <a:prstGeom prst="ellipse">
            <a:avLst/>
          </a:prstGeom>
          <a:solidFill>
            <a:srgbClr val="4C6A8A"/>
          </a:solidFill>
          <a:ln/>
        </p:spPr>
      </p:sp>
      <p:pic>
        <p:nvPicPr>
          <p:cNvPr id="26" name="Image 3" descr="/home/claude/legalrag_ppt/icons/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8355" y="4066703"/>
            <a:ext cx="324795" cy="324795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041648" y="379476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Pinecone Serverless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4041648" y="4069080"/>
            <a:ext cx="1508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 — text chunks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5897880" y="3703320"/>
            <a:ext cx="1965960" cy="1051560"/>
          </a:xfrm>
          <a:prstGeom prst="roundRect">
            <a:avLst>
              <a:gd name="adj" fmla="val 6087"/>
            </a:avLst>
          </a:prstGeom>
          <a:solidFill>
            <a:srgbClr val="1E3350"/>
          </a:solidFill>
          <a:ln w="12700">
            <a:solidFill>
              <a:srgbClr val="4C6A8A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6025896" y="4009644"/>
            <a:ext cx="438912" cy="438912"/>
          </a:xfrm>
          <a:prstGeom prst="ellipse">
            <a:avLst/>
          </a:prstGeom>
          <a:solidFill>
            <a:srgbClr val="4C6A8A"/>
          </a:solidFill>
          <a:ln/>
        </p:spPr>
      </p:sp>
      <p:pic>
        <p:nvPicPr>
          <p:cNvPr id="31" name="Image 4" descr="/home/claude/legalrag_ppt/icons/bo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2955" y="4066703"/>
            <a:ext cx="324795" cy="324795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6556248" y="37947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Cloud API</a:t>
            </a:r>
            <a:endParaRPr lang="en-US" sz="1150" dirty="0"/>
          </a:p>
        </p:txBody>
      </p:sp>
      <p:sp>
        <p:nvSpPr>
          <p:cNvPr id="33" name="Text 26"/>
          <p:cNvSpPr/>
          <p:nvPr/>
        </p:nvSpPr>
        <p:spPr>
          <a:xfrm>
            <a:off x="6556248" y="406908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2011680" y="3337560"/>
            <a:ext cx="0" cy="365760"/>
          </a:xfrm>
          <a:prstGeom prst="line">
            <a:avLst/>
          </a:prstGeom>
          <a:noFill/>
          <a:ln w="19050">
            <a:solidFill>
              <a:srgbClr val="748CAB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4526280" y="3337560"/>
            <a:ext cx="0" cy="365760"/>
          </a:xfrm>
          <a:prstGeom prst="line">
            <a:avLst/>
          </a:prstGeom>
          <a:noFill/>
          <a:ln w="19050">
            <a:solidFill>
              <a:srgbClr val="748CAB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6858000" y="3337560"/>
            <a:ext cx="0" cy="365760"/>
          </a:xfrm>
          <a:prstGeom prst="line">
            <a:avLst/>
          </a:prstGeom>
          <a:noFill/>
          <a:ln w="19050">
            <a:solidFill>
              <a:srgbClr val="748CAB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2011680" y="3337560"/>
            <a:ext cx="4846320" cy="0"/>
          </a:xfrm>
          <a:prstGeom prst="line">
            <a:avLst/>
          </a:prstGeom>
          <a:noFill/>
          <a:ln w="19050">
            <a:solidFill>
              <a:srgbClr val="748CAB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868680" y="4983480"/>
            <a:ext cx="6995160" cy="457200"/>
          </a:xfrm>
          <a:prstGeom prst="roundRect">
            <a:avLst>
              <a:gd name="adj" fmla="val 12000"/>
            </a:avLst>
          </a:prstGeom>
          <a:solidFill>
            <a:srgbClr val="13233F"/>
          </a:solidFill>
          <a:ln w="9525">
            <a:solidFill>
              <a:srgbClr val="4C6A8A"/>
            </a:solidFill>
            <a:prstDash val="dash"/>
          </a:ln>
        </p:spPr>
      </p:sp>
      <p:sp>
        <p:nvSpPr>
          <p:cNvPr id="39" name="Text 32"/>
          <p:cNvSpPr/>
          <p:nvPr/>
        </p:nvSpPr>
        <p:spPr>
          <a:xfrm>
            <a:off x="1005840" y="4983480"/>
            <a:ext cx="6720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CI/CD:  GitHub Actions  →  Azure Container Registry  →  App Service</a:t>
            </a:r>
            <a:endParaRPr lang="en-US" sz="1000" dirty="0"/>
          </a:p>
        </p:txBody>
      </p:sp>
      <p:sp>
        <p:nvSpPr>
          <p:cNvPr id="40" name="Text 33"/>
          <p:cNvSpPr/>
          <p:nvPr/>
        </p:nvSpPr>
        <p:spPr>
          <a:xfrm>
            <a:off x="8503920" y="14173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8503920" y="178308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42" name="Text 35"/>
          <p:cNvSpPr/>
          <p:nvPr/>
        </p:nvSpPr>
        <p:spPr>
          <a:xfrm>
            <a:off x="8503920" y="178308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8942832" y="1709928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uploads PDF → stored in Azure Blob Storage</a:t>
            </a:r>
            <a:endParaRPr lang="en-US" sz="1050" dirty="0"/>
          </a:p>
        </p:txBody>
      </p:sp>
      <p:sp>
        <p:nvSpPr>
          <p:cNvPr id="44" name="Shape 37"/>
          <p:cNvSpPr/>
          <p:nvPr/>
        </p:nvSpPr>
        <p:spPr>
          <a:xfrm>
            <a:off x="8503920" y="274320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45" name="Text 38"/>
          <p:cNvSpPr/>
          <p:nvPr/>
        </p:nvSpPr>
        <p:spPr>
          <a:xfrm>
            <a:off x="8503920" y="274320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46" name="Text 39"/>
          <p:cNvSpPr/>
          <p:nvPr/>
        </p:nvSpPr>
        <p:spPr>
          <a:xfrm>
            <a:off x="8942832" y="2670048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extracted → chunked → embedded → stored in Pinecone</a:t>
            </a:r>
            <a:endParaRPr lang="en-US" sz="1050" dirty="0"/>
          </a:p>
        </p:txBody>
      </p:sp>
      <p:sp>
        <p:nvSpPr>
          <p:cNvPr id="47" name="Shape 40"/>
          <p:cNvSpPr/>
          <p:nvPr/>
        </p:nvSpPr>
        <p:spPr>
          <a:xfrm>
            <a:off x="8503920" y="370332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48" name="Text 41"/>
          <p:cNvSpPr/>
          <p:nvPr/>
        </p:nvSpPr>
        <p:spPr>
          <a:xfrm>
            <a:off x="8503920" y="370332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Text 42"/>
          <p:cNvSpPr/>
          <p:nvPr/>
        </p:nvSpPr>
        <p:spPr>
          <a:xfrm>
            <a:off x="8942832" y="3630168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asks question → multi-query retrieval from Pinecone</a:t>
            </a:r>
            <a:endParaRPr lang="en-US" sz="1050" dirty="0"/>
          </a:p>
        </p:txBody>
      </p:sp>
      <p:sp>
        <p:nvSpPr>
          <p:cNvPr id="50" name="Shape 43"/>
          <p:cNvSpPr/>
          <p:nvPr/>
        </p:nvSpPr>
        <p:spPr>
          <a:xfrm>
            <a:off x="8503920" y="4663440"/>
            <a:ext cx="310896" cy="310896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51" name="Text 44"/>
          <p:cNvSpPr/>
          <p:nvPr/>
        </p:nvSpPr>
        <p:spPr>
          <a:xfrm>
            <a:off x="8503920" y="46634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52" name="Text 45"/>
          <p:cNvSpPr/>
          <p:nvPr/>
        </p:nvSpPr>
        <p:spPr>
          <a:xfrm>
            <a:off x="8942832" y="4590288"/>
            <a:ext cx="2697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chunks + question → Groq (Llama 3.3) → answer returned</a:t>
            </a:r>
            <a:endParaRPr lang="en-US" sz="1050" dirty="0"/>
          </a:p>
        </p:txBody>
      </p:sp>
      <p:sp>
        <p:nvSpPr>
          <p:cNvPr id="53" name="Text 4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5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54" name="Text 4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 Services &amp; Tech Stack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7452360" cy="38404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 hosting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Static Web Apps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8E96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  Planned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compute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App Service (Docker)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8E96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  Planned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Blob Storage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8E96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  Planned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registry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Container Registry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8E96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  Planned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CI/CD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 + ACR webhook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+ Azure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8E96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  Planned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 database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Pinecone Serverless (AWS us-east-1)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Pinecone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  Live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 inference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Cloud — Llama 3.3 70B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  Live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HuggingFace all-mpnet-base-v2 (768D)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HuggingFace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  Live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App Configuration / .env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8E96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  Planned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229600" y="4160520"/>
            <a:ext cx="33832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58200" y="4343400"/>
            <a:ext cx="29260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en-US" sz="11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running and callable today
</a:t>
            </a:r>
            <a:r>
              <a:rPr lang="en-US" sz="1100" b="1" dirty="0">
                <a:solidFill>
                  <a:srgbClr val="8E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</a:t>
            </a:r>
            <a:r>
              <a:rPr lang="en-US" sz="11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designed and coded for, not yet deployed to Azure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Modules Implemented — Backend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pic>
        <p:nvPicPr>
          <p:cNvPr id="6" name="Image 0" descr="/home/claude/legalrag_ppt/icons/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900" y="1802740"/>
            <a:ext cx="372161" cy="37216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7992" y="184708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Upload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212848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PDF/TXT, extracts text via pypdf, chunks with RecursiveCharacterTextSplitter (1500 chars, 300 overlap), embeds and stores in Pinecone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17920" y="155448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059168" y="171907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Pipeline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00800" y="2212848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Multi-query retrieval (3 query variants per question), MMR search (k=6, fetch_k=20), deduplication, context assembly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10896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31089" y="3378277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Answering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731520" y="3767328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 3.3 70B via Groq, grounded strictly in retrieved context, temperature=0.1 for factual accuracy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17920" y="310896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7059168" y="327355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Management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400800" y="3767328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UUID-based sessions, 30-minute timeout, conversation history (last 10 exchanges)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466344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7" name="Text 20"/>
          <p:cNvSpPr/>
          <p:nvPr/>
        </p:nvSpPr>
        <p:spPr>
          <a:xfrm>
            <a:off x="731520" y="4910328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731520" y="5321808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requests/minute per IP, enforced at the API layer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217920" y="466344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7059168" y="482803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400800" y="5321808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length 3–2000 chars, file size max 20MB, PDF/TXT only</a:t>
            </a:r>
            <a:endParaRPr lang="en-US" sz="100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Modules Implemented — Frontend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389888" y="171907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Interface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212848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Q&amp;A with markdown rendering, typing indicator, auto-scroll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217920" y="155448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059168" y="171907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Upload Modal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00800" y="2212848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&amp; drop PDF/TXT upload with progress feedback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310896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pic>
        <p:nvPicPr>
          <p:cNvPr id="16" name="Image 2" descr="/home/claude/legalrag_ppt/icons/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900" y="3357220"/>
            <a:ext cx="372161" cy="37216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89888" y="327355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Documents Sidebar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731520" y="3767328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list of uploaded documents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217920" y="310896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7059168" y="327355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Health Monitor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6400800" y="3767328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the root endpoint every 5 seconds, shows online/offline status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48640" y="466344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pic>
        <p:nvPicPr>
          <p:cNvPr id="26" name="Image 4" descr="/home/claude/legalrag_ppt/icons/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900" y="4911700"/>
            <a:ext cx="372161" cy="372161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389888" y="4828032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Tracking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731520" y="5321808"/>
            <a:ext cx="5074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Displays the active session ID, supports reset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5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6537960" cy="502920"/>
          </a:xfrm>
          <a:prstGeom prst="roundRect">
            <a:avLst>
              <a:gd name="adj" fmla="val 12727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476756"/>
            <a:ext cx="384048" cy="384048"/>
          </a:xfrm>
          <a:prstGeom prst="ellipse">
            <a:avLst/>
          </a:prstGeom>
          <a:solidFill>
            <a:srgbClr val="152238"/>
          </a:solidFill>
          <a:ln/>
        </p:spPr>
      </p:sp>
      <p:pic>
        <p:nvPicPr>
          <p:cNvPr id="6" name="Image 0" descr="/home/claude/legalrag_ppt/icons/com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0902" y="1526682"/>
            <a:ext cx="284196" cy="2841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81328" y="1417320"/>
            <a:ext cx="5715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Question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091940" y="1920240"/>
            <a:ext cx="0" cy="164592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822960" y="2084832"/>
            <a:ext cx="6537960" cy="658368"/>
          </a:xfrm>
          <a:prstGeom prst="roundRect">
            <a:avLst>
              <a:gd name="adj" fmla="val 9722"/>
            </a:avLst>
          </a:prstGeom>
          <a:solidFill>
            <a:srgbClr val="1E3350"/>
          </a:solidFill>
          <a:ln w="12700">
            <a:solidFill>
              <a:srgbClr val="4C6A8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50976" y="2221992"/>
            <a:ext cx="384048" cy="384048"/>
          </a:xfrm>
          <a:prstGeom prst="ellipse">
            <a:avLst/>
          </a:prstGeom>
          <a:solidFill>
            <a:srgbClr val="4C6A8A"/>
          </a:solidFill>
          <a:ln/>
        </p:spPr>
      </p:sp>
      <p:pic>
        <p:nvPicPr>
          <p:cNvPr id="11" name="Image 1" descr="/home/claude/legalrag_ppt/icons/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0902" y="2271918"/>
            <a:ext cx="284196" cy="2841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481328" y="21579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Multi-Query Generation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481328" y="2414016"/>
            <a:ext cx="5715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+ 2 variants (factual angle + legal angle)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091940" y="2743200"/>
            <a:ext cx="0" cy="164592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822960" y="2907792"/>
            <a:ext cx="6537960" cy="658368"/>
          </a:xfrm>
          <a:prstGeom prst="roundRect">
            <a:avLst>
              <a:gd name="adj" fmla="val 9722"/>
            </a:avLst>
          </a:prstGeom>
          <a:solidFill>
            <a:srgbClr val="1E3350"/>
          </a:solidFill>
          <a:ln w="12700">
            <a:solidFill>
              <a:srgbClr val="4C6A8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50976" y="3044952"/>
            <a:ext cx="384048" cy="384048"/>
          </a:xfrm>
          <a:prstGeom prst="ellipse">
            <a:avLst/>
          </a:prstGeom>
          <a:solidFill>
            <a:srgbClr val="4C6A8A"/>
          </a:solidFill>
          <a:ln/>
        </p:spPr>
      </p:sp>
      <p:pic>
        <p:nvPicPr>
          <p:cNvPr id="17" name="Image 2" descr="/home/claude/legalrag_ppt/icons/databa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902" y="3094878"/>
            <a:ext cx="284196" cy="28419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481328" y="298094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Pinecone MMR Retrieval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481328" y="3236976"/>
            <a:ext cx="5715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k=6 per query, fetch_k=20, deduplication → ~12 unique chunks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4091940" y="3566160"/>
            <a:ext cx="0" cy="164592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822960" y="3730752"/>
            <a:ext cx="6537960" cy="749808"/>
          </a:xfrm>
          <a:prstGeom prst="roundRect">
            <a:avLst>
              <a:gd name="adj" fmla="val 8537"/>
            </a:avLst>
          </a:prstGeom>
          <a:solidFill>
            <a:srgbClr val="1E3350"/>
          </a:solidFill>
          <a:ln w="12700">
            <a:solidFill>
              <a:srgbClr val="4C6A8A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50976" y="3913632"/>
            <a:ext cx="384048" cy="384048"/>
          </a:xfrm>
          <a:prstGeom prst="ellipse">
            <a:avLst/>
          </a:prstGeom>
          <a:solidFill>
            <a:srgbClr val="4C6A8A"/>
          </a:solidFill>
          <a:ln/>
        </p:spPr>
      </p:sp>
      <p:pic>
        <p:nvPicPr>
          <p:cNvPr id="23" name="Image 3" descr="/home/claude/legalrag_ppt/icons/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902" y="3963558"/>
            <a:ext cx="284196" cy="28419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81328" y="380390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Assembly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481328" y="4059936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chunk has [CASE HEADER] prepended — party names &amp; case number always present</a:t>
            </a:r>
            <a:endParaRPr lang="en-US" sz="950" dirty="0"/>
          </a:p>
        </p:txBody>
      </p:sp>
      <p:sp>
        <p:nvSpPr>
          <p:cNvPr id="26" name="Shape 20"/>
          <p:cNvSpPr/>
          <p:nvPr/>
        </p:nvSpPr>
        <p:spPr>
          <a:xfrm>
            <a:off x="4091940" y="4480560"/>
            <a:ext cx="0" cy="164592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  <a:tailEnd type="triangle"/>
          </a:ln>
        </p:spPr>
      </p:sp>
      <p:sp>
        <p:nvSpPr>
          <p:cNvPr id="27" name="Shape 21"/>
          <p:cNvSpPr/>
          <p:nvPr/>
        </p:nvSpPr>
        <p:spPr>
          <a:xfrm>
            <a:off x="822960" y="4645152"/>
            <a:ext cx="6537960" cy="658368"/>
          </a:xfrm>
          <a:prstGeom prst="roundRect">
            <a:avLst>
              <a:gd name="adj" fmla="val 9722"/>
            </a:avLst>
          </a:prstGeom>
          <a:solidFill>
            <a:srgbClr val="1E3350"/>
          </a:solidFill>
          <a:ln w="12700">
            <a:solidFill>
              <a:srgbClr val="4C6A8A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950976" y="4782312"/>
            <a:ext cx="384048" cy="384048"/>
          </a:xfrm>
          <a:prstGeom prst="ellipse">
            <a:avLst/>
          </a:prstGeom>
          <a:solidFill>
            <a:srgbClr val="4C6A8A"/>
          </a:solidFill>
          <a:ln/>
        </p:spPr>
      </p:sp>
      <p:pic>
        <p:nvPicPr>
          <p:cNvPr id="29" name="Image 4" descr="/home/claude/legalrag_ppt/icons/bol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0902" y="4832238"/>
            <a:ext cx="284196" cy="284196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481328" y="471830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— Llama 3.3 70B</a:t>
            </a:r>
            <a:endParaRPr lang="en-US" sz="1300" dirty="0"/>
          </a:p>
        </p:txBody>
      </p:sp>
      <p:sp>
        <p:nvSpPr>
          <p:cNvPr id="31" name="Text 24"/>
          <p:cNvSpPr/>
          <p:nvPr/>
        </p:nvSpPr>
        <p:spPr>
          <a:xfrm>
            <a:off x="1481328" y="4974336"/>
            <a:ext cx="5715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grounding prompt · temperature=0.1 · max_tokens=2048</a:t>
            </a:r>
            <a:endParaRPr lang="en-US" sz="950" dirty="0"/>
          </a:p>
        </p:txBody>
      </p:sp>
      <p:sp>
        <p:nvSpPr>
          <p:cNvPr id="32" name="Shape 25"/>
          <p:cNvSpPr/>
          <p:nvPr/>
        </p:nvSpPr>
        <p:spPr>
          <a:xfrm>
            <a:off x="4091940" y="5303520"/>
            <a:ext cx="0" cy="164592"/>
          </a:xfrm>
          <a:prstGeom prst="line">
            <a:avLst/>
          </a:prstGeom>
          <a:noFill/>
          <a:ln w="25400">
            <a:solidFill>
              <a:srgbClr val="C9A24B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822960" y="5468112"/>
            <a:ext cx="6537960" cy="502920"/>
          </a:xfrm>
          <a:prstGeom prst="roundRect">
            <a:avLst>
              <a:gd name="adj" fmla="val 12727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950976" y="5527548"/>
            <a:ext cx="384048" cy="384048"/>
          </a:xfrm>
          <a:prstGeom prst="ellipse">
            <a:avLst/>
          </a:prstGeom>
          <a:solidFill>
            <a:srgbClr val="152238"/>
          </a:solidFill>
          <a:ln/>
        </p:spPr>
      </p:sp>
      <p:pic>
        <p:nvPicPr>
          <p:cNvPr id="35" name="Image 5" descr="/home/claude/legalrag_ppt/icons/che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902" y="5577474"/>
            <a:ext cx="284196" cy="284196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1481328" y="5468112"/>
            <a:ext cx="5715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22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7680960" y="1417320"/>
            <a:ext cx="3977640" cy="2103120"/>
          </a:xfrm>
          <a:prstGeom prst="roundRect">
            <a:avLst>
              <a:gd name="adj" fmla="val 4348"/>
            </a:avLst>
          </a:prstGeom>
          <a:solidFill>
            <a:srgbClr val="1B2F4E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7909560" y="1600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7909560" y="192024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E4E9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header — the first 1200 characters of the document — is prepended to every chunk, so party names and case metadata are always in context regardless of which chunk is retrieved.</a:t>
            </a:r>
            <a:endParaRPr lang="en-US" sz="1200" dirty="0"/>
          </a:p>
        </p:txBody>
      </p:sp>
      <p:sp>
        <p:nvSpPr>
          <p:cNvPr id="40" name="Shape 32"/>
          <p:cNvSpPr/>
          <p:nvPr/>
        </p:nvSpPr>
        <p:spPr>
          <a:xfrm>
            <a:off x="7680960" y="3749040"/>
            <a:ext cx="3977640" cy="1828800"/>
          </a:xfrm>
          <a:prstGeom prst="roundRect">
            <a:avLst>
              <a:gd name="adj" fmla="val 5000"/>
            </a:avLst>
          </a:prstGeom>
          <a:solidFill>
            <a:srgbClr val="1E3350"/>
          </a:solidFill>
          <a:ln w="12700">
            <a:solidFill>
              <a:srgbClr val="4C6A8A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7909560" y="391363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748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MULTI-QUERY?</a:t>
            </a:r>
            <a:endParaRPr lang="en-US" sz="1100" dirty="0"/>
          </a:p>
        </p:txBody>
      </p:sp>
      <p:sp>
        <p:nvSpPr>
          <p:cNvPr id="42" name="Text 34"/>
          <p:cNvSpPr/>
          <p:nvPr/>
        </p:nvSpPr>
        <p:spPr>
          <a:xfrm>
            <a:off x="7909560" y="4224528"/>
            <a:ext cx="356616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questions can be phrased factually or in legal terms — generating query variants widens retrieval coverage before deduplicating down to the strongest chunks.</a:t>
            </a:r>
            <a:endParaRPr lang="en-US" sz="1150" dirty="0"/>
          </a:p>
        </p:txBody>
      </p:sp>
      <p:sp>
        <p:nvSpPr>
          <p:cNvPr id="43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5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44" name="Text 3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5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Endpoints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6858000" cy="3072384"/>
        </p:xfrm>
        <a:graphic>
          <a:graphicData uri="http://schemas.openxmlformats.org/drawingml/2006/table">
            <a:tbl>
              <a:tblPr/>
              <a:tblGrid>
                <a:gridCol w="960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 check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C6A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/chat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documents with RAG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C6A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/upload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 and index PDF/TXT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/session/{id}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a session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4C6A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/session/reset/{id}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Reset conversation history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/sessions/count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Active session count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9D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/sources/{id}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 session document references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508760"/>
            <a:ext cx="3977640" cy="3657600"/>
          </a:xfrm>
          <a:prstGeom prst="roundRect">
            <a:avLst>
              <a:gd name="adj" fmla="val 2000"/>
            </a:avLst>
          </a:prstGeom>
          <a:solidFill>
            <a:srgbClr val="152238"/>
          </a:solidFill>
          <a:ln/>
        </p:spPr>
      </p:sp>
      <p:sp>
        <p:nvSpPr>
          <p:cNvPr id="6" name="Text 3"/>
          <p:cNvSpPr/>
          <p:nvPr/>
        </p:nvSpPr>
        <p:spPr>
          <a:xfrm>
            <a:off x="7863840" y="164592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/chat — Example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863840" y="20116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48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7863840" y="2267712"/>
            <a:ext cx="356616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"text": "Who are the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parties in Rajnesh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vs Neha?",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"session_id": "abc123"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63840" y="37490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48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0" y="4005072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"response": "The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parties are Rajnesh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(appellant/husband)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and Neha...",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"session_id": "abc123"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7E3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Codebase, Two Environments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25146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Env Var Is Set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App Uses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Otherwise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23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AZURE_STORAGE_CONNECTION_STRING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Blob Storage for PDFs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temp file (deleted after indexing)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23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PINECONE_API_KEY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Pinecone Serverless (cloud)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— no local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23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GROQ_API_KEY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Groq Cloud LLM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B8504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 — no local fallback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5223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PORT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B26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 Azure 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5B6B7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 8000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2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6634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kern="0" spc="150" dirty="0">
                <a:solidFill>
                  <a:srgbClr val="4C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5038344"/>
            <a:ext cx="182880" cy="1828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9377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code, same Docker container — cloud binding is configuration, not a rewrite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48640" y="5495544"/>
            <a:ext cx="182880" cy="1828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9" name="Text 6"/>
          <p:cNvSpPr/>
          <p:nvPr/>
        </p:nvSpPr>
        <p:spPr>
          <a:xfrm>
            <a:off x="914400" y="53949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locally with a .env file for development — doesn't burn Azure credits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5952744"/>
            <a:ext cx="182880" cy="182880"/>
          </a:xfrm>
          <a:prstGeom prst="ellipse">
            <a:avLst/>
          </a:prstGeom>
          <a:solidFill>
            <a:srgbClr val="C9A24B"/>
          </a:solidFill>
          <a:ln/>
        </p:spPr>
      </p:sp>
      <p:sp>
        <p:nvSpPr>
          <p:cNvPr id="11" name="Text 8"/>
          <p:cNvSpPr/>
          <p:nvPr/>
        </p:nvSpPr>
        <p:spPr>
          <a:xfrm>
            <a:off x="914400" y="58521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to Azure is an App Service environment-variable change, not a code change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RETROSPECTIVE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Next Steps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51560" y="1783080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breaking changes — the langchain-community Pinecone integration was sunset mid-project; migrated to the standalone langchain-pinecone package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1051560" y="2532888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rename — pinecone-client renamed to pinecone; caused import failures until resolved</a:t>
            </a:r>
            <a:endParaRPr lang="en-US" sz="1050" dirty="0"/>
          </a:p>
        </p:txBody>
      </p:sp>
      <p:pic>
        <p:nvPicPr>
          <p:cNvPr id="12" name="Image 2" descr="/home/claude/legalrag_ppt/icons/to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189" y="3375965"/>
            <a:ext cx="270662" cy="27066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51560" y="3282696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Cross-case contamination — retriever mixed Smith v. Johnson chunks into Rajnesh vs. Neha answers; fixed with MMR search + case-header injection</a:t>
            </a:r>
            <a:endParaRPr lang="en-US" sz="1050" dirty="0"/>
          </a:p>
        </p:txBody>
      </p:sp>
      <p:sp>
        <p:nvSpPr>
          <p:cNvPr id="16" name="Text 10"/>
          <p:cNvSpPr/>
          <p:nvPr/>
        </p:nvSpPr>
        <p:spPr>
          <a:xfrm>
            <a:off x="1051560" y="4032504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PDF limitation — pypdf cannot extract text from image-based PDFs; documented as a known limitation</a:t>
            </a:r>
            <a:endParaRPr lang="en-US" sz="1050" dirty="0"/>
          </a:p>
        </p:txBody>
      </p:sp>
      <p:sp>
        <p:nvSpPr>
          <p:cNvPr id="19" name="Text 12"/>
          <p:cNvSpPr/>
          <p:nvPr/>
        </p:nvSpPr>
        <p:spPr>
          <a:xfrm>
            <a:off x="1051560" y="4782312"/>
            <a:ext cx="5074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 conflicts — sentence-transformers missing from system Python; resolved with an explicit install</a:t>
            </a:r>
            <a:endParaRPr lang="en-US" sz="1050" dirty="0"/>
          </a:p>
        </p:txBody>
      </p:sp>
      <p:sp>
        <p:nvSpPr>
          <p:cNvPr id="20" name="Text 13"/>
          <p:cNvSpPr/>
          <p:nvPr/>
        </p:nvSpPr>
        <p:spPr>
          <a:xfrm>
            <a:off x="6400800" y="14630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1F9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574536" y="2194560"/>
            <a:ext cx="0" cy="256032"/>
          </a:xfrm>
          <a:prstGeom prst="line">
            <a:avLst/>
          </a:prstGeom>
          <a:noFill/>
          <a:ln w="19050">
            <a:solidFill>
              <a:srgbClr val="DCE1E8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6400800" y="1828800"/>
            <a:ext cx="347472" cy="347472"/>
          </a:xfrm>
          <a:prstGeom prst="ellipse">
            <a:avLst/>
          </a:prstGeom>
          <a:solidFill>
            <a:srgbClr val="1F9D55"/>
          </a:solidFill>
          <a:ln/>
        </p:spPr>
      </p:sp>
      <p:sp>
        <p:nvSpPr>
          <p:cNvPr id="23" name="Text 16"/>
          <p:cNvSpPr/>
          <p:nvPr/>
        </p:nvSpPr>
        <p:spPr>
          <a:xfrm>
            <a:off x="6400800" y="18288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17"/>
          <p:cNvSpPr/>
          <p:nvPr/>
        </p:nvSpPr>
        <p:spPr>
          <a:xfrm>
            <a:off x="6903720" y="180136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backend to Azure App Service via Docker + ACR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6574536" y="2816352"/>
            <a:ext cx="0" cy="256032"/>
          </a:xfrm>
          <a:prstGeom prst="line">
            <a:avLst/>
          </a:prstGeom>
          <a:noFill/>
          <a:ln w="19050">
            <a:solidFill>
              <a:srgbClr val="DCE1E8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400800" y="2450592"/>
            <a:ext cx="347472" cy="347472"/>
          </a:xfrm>
          <a:prstGeom prst="ellipse">
            <a:avLst/>
          </a:prstGeom>
          <a:solidFill>
            <a:srgbClr val="1F9D55"/>
          </a:solidFill>
          <a:ln/>
        </p:spPr>
      </p:sp>
      <p:sp>
        <p:nvSpPr>
          <p:cNvPr id="27" name="Text 20"/>
          <p:cNvSpPr/>
          <p:nvPr/>
        </p:nvSpPr>
        <p:spPr>
          <a:xfrm>
            <a:off x="6400800" y="245059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6903720" y="242316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frontend to Azure Static Web Apps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6574536" y="3438144"/>
            <a:ext cx="0" cy="256032"/>
          </a:xfrm>
          <a:prstGeom prst="line">
            <a:avLst/>
          </a:prstGeom>
          <a:noFill/>
          <a:ln w="19050">
            <a:solidFill>
              <a:srgbClr val="DCE1E8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400800" y="3072384"/>
            <a:ext cx="347472" cy="347472"/>
          </a:xfrm>
          <a:prstGeom prst="ellipse">
            <a:avLst/>
          </a:prstGeom>
          <a:solidFill>
            <a:srgbClr val="1F9D55"/>
          </a:solidFill>
          <a:ln/>
        </p:spPr>
      </p:sp>
      <p:sp>
        <p:nvSpPr>
          <p:cNvPr id="31" name="Text 24"/>
          <p:cNvSpPr/>
          <p:nvPr/>
        </p:nvSpPr>
        <p:spPr>
          <a:xfrm>
            <a:off x="6400800" y="307238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6903720" y="304495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Azure Blob Storage for persistent PDF storage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574536" y="4059936"/>
            <a:ext cx="0" cy="256032"/>
          </a:xfrm>
          <a:prstGeom prst="line">
            <a:avLst/>
          </a:prstGeom>
          <a:noFill/>
          <a:ln w="19050">
            <a:solidFill>
              <a:srgbClr val="DCE1E8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6400800" y="3694176"/>
            <a:ext cx="347472" cy="347472"/>
          </a:xfrm>
          <a:prstGeom prst="ellipse">
            <a:avLst/>
          </a:prstGeom>
          <a:solidFill>
            <a:srgbClr val="1F9D55"/>
          </a:solidFill>
          <a:ln/>
        </p:spPr>
      </p:sp>
      <p:sp>
        <p:nvSpPr>
          <p:cNvPr id="35" name="Text 28"/>
          <p:cNvSpPr/>
          <p:nvPr/>
        </p:nvSpPr>
        <p:spPr>
          <a:xfrm>
            <a:off x="6400800" y="369417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29"/>
          <p:cNvSpPr/>
          <p:nvPr/>
        </p:nvSpPr>
        <p:spPr>
          <a:xfrm>
            <a:off x="6903720" y="366674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GitHub Actions CI/CD pipeline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574536" y="4681728"/>
            <a:ext cx="0" cy="256032"/>
          </a:xfrm>
          <a:prstGeom prst="line">
            <a:avLst/>
          </a:prstGeom>
          <a:noFill/>
          <a:ln w="19050">
            <a:solidFill>
              <a:srgbClr val="DCE1E8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400800" y="4315968"/>
            <a:ext cx="347472" cy="347472"/>
          </a:xfrm>
          <a:prstGeom prst="ellipse">
            <a:avLst/>
          </a:prstGeom>
          <a:solidFill>
            <a:srgbClr val="1F9D55"/>
          </a:solidFill>
          <a:ln/>
        </p:spPr>
      </p:sp>
      <p:sp>
        <p:nvSpPr>
          <p:cNvPr id="39" name="Text 32"/>
          <p:cNvSpPr/>
          <p:nvPr/>
        </p:nvSpPr>
        <p:spPr>
          <a:xfrm>
            <a:off x="6400800" y="431596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200" dirty="0"/>
          </a:p>
        </p:txBody>
      </p:sp>
      <p:sp>
        <p:nvSpPr>
          <p:cNvPr id="40" name="Text 33"/>
          <p:cNvSpPr/>
          <p:nvPr/>
        </p:nvSpPr>
        <p:spPr>
          <a:xfrm>
            <a:off x="6903720" y="428853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Azure Application Insights for monitoring &amp; telemetry</a:t>
            </a:r>
            <a:endParaRPr lang="en-US" sz="1100" dirty="0"/>
          </a:p>
        </p:txBody>
      </p:sp>
      <p:sp>
        <p:nvSpPr>
          <p:cNvPr id="41" name="Shape 34"/>
          <p:cNvSpPr/>
          <p:nvPr/>
        </p:nvSpPr>
        <p:spPr>
          <a:xfrm>
            <a:off x="6400800" y="4937760"/>
            <a:ext cx="347472" cy="347472"/>
          </a:xfrm>
          <a:prstGeom prst="ellipse">
            <a:avLst/>
          </a:prstGeom>
          <a:solidFill>
            <a:srgbClr val="1F9D55"/>
          </a:solidFill>
          <a:ln/>
        </p:spPr>
      </p:sp>
      <p:sp>
        <p:nvSpPr>
          <p:cNvPr id="42" name="Text 35"/>
          <p:cNvSpPr/>
          <p:nvPr/>
        </p:nvSpPr>
        <p:spPr>
          <a:xfrm>
            <a:off x="6400800" y="49377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903720" y="4910328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OCR support for scanned PDFs via Azure AI Document Intelligence</a:t>
            </a:r>
            <a:endParaRPr lang="en-US" sz="1100" dirty="0"/>
          </a:p>
        </p:txBody>
      </p:sp>
      <p:sp>
        <p:nvSpPr>
          <p:cNvPr id="44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9A2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522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67335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Azure Documentation — App Service, Blob Storage, Static Web Apps, Container Registry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051560" y="2194560"/>
            <a:ext cx="103327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134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229514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Pinecone Documentation — Serverless Index, Python SDK — pinecone.io/docs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51560" y="2816352"/>
            <a:ext cx="103327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935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291693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Documentation — Llama 3.3 70B Inference API — console.groq.com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51560" y="3438144"/>
            <a:ext cx="103327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570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51560" y="3538728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Documentation — RAG, Retrieval Chains — python.langchain.com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1051560" y="4059936"/>
            <a:ext cx="103327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1788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16052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HuggingFace — sentence-transformers/all-mpnet-base-v2 model card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51560" y="4681728"/>
            <a:ext cx="103327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51560" y="4782312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Supreme Court of India — Rajnesh vs. Neha and Ors. — MANU/SC/0833/2020 (04.11.2020)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051560" y="5303520"/>
            <a:ext cx="1033272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54223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2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5404104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guidelines — 22AIE305 Introduction to Cloud Computing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LegalRAG  ·  22AIE305 Introduction to Cloud Computing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5682996" y="1371600"/>
            <a:ext cx="822960" cy="822960"/>
          </a:xfrm>
          <a:prstGeom prst="ellipse">
            <a:avLst/>
          </a:prstGeom>
          <a:solidFill>
            <a:srgbClr val="C9A24B"/>
          </a:solidFill>
          <a:ln/>
        </p:spPr>
      </p:sp>
      <p:pic>
        <p:nvPicPr>
          <p:cNvPr id="5" name="Image 0" descr="/home/claude/legalrag_ppt/icons/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9981" y="1478585"/>
            <a:ext cx="608990" cy="60899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2468880"/>
            <a:ext cx="121889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0" y="32461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 err="1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Juriscope</a:t>
            </a:r>
            <a:endParaRPr lang="en-US" sz="1500" i="1" dirty="0">
              <a:solidFill>
                <a:srgbClr val="C7D2E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Making legal knowledge accessible through cloud-native AI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814316" y="3977640"/>
            <a:ext cx="2560320" cy="0"/>
          </a:xfrm>
          <a:prstGeom prst="line">
            <a:avLst/>
          </a:prstGeom>
          <a:noFill/>
          <a:ln w="12700">
            <a:solidFill>
              <a:srgbClr val="748CA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0" y="4160520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EB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Mamidala Som Praneeth Babu   ·   CB.SC.U4AIE24029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0" y="4462272"/>
            <a:ext cx="121889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5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22AIE305 · Introduction to Cloud Computing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1811</Words>
  <Application>Microsoft Office PowerPoint</Application>
  <PresentationFormat>Widescreen</PresentationFormat>
  <Paragraphs>377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MAMIDALA SOM PRANEETH BABU - [CB.SC.U4AIE24029]</cp:lastModifiedBy>
  <cp:revision>3</cp:revision>
  <dcterms:created xsi:type="dcterms:W3CDTF">2026-08-16T08:50:34Z</dcterms:created>
  <dcterms:modified xsi:type="dcterms:W3CDTF">2026-08-18T10:04:08Z</dcterms:modified>
</cp:coreProperties>
</file>