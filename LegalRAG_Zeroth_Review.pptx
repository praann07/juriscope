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66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828800"/>
            <a:ext cx="5943600" cy="5943600"/>
          </a:xfrm>
          <a:prstGeom prst="ellipse">
            <a:avLst/>
          </a:prstGeom>
          <a:solidFill>
            <a:srgbClr val="1E3350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440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5800"/>
            <a:ext cx="777240" cy="77724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6" name="Image 0" descr="/home/claude/legalrag_ppt/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41" y="786841"/>
            <a:ext cx="509299" cy="5092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22AIE305  ·  INTRODUCTION TO CLOUD COMPUTING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26517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LegalRAG</a:t>
            </a:r>
            <a:endParaRPr lang="en-US" sz="6000" dirty="0"/>
          </a:p>
        </p:txBody>
      </p:sp>
      <p:sp>
        <p:nvSpPr>
          <p:cNvPr id="11" name="Text 7"/>
          <p:cNvSpPr/>
          <p:nvPr/>
        </p:nvSpPr>
        <p:spPr>
          <a:xfrm>
            <a:off x="68580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Legal Document Assistant on a Cloud-Native RAG Architecture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85800" y="4572000"/>
            <a:ext cx="2926080" cy="0"/>
          </a:xfrm>
          <a:prstGeom prst="line">
            <a:avLst/>
          </a:prstGeom>
          <a:noFill/>
          <a:ln w="12700">
            <a:solidFill>
              <a:srgbClr val="748CA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48920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Review Presentation
</a:t>
            </a: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____   |   Section: AIE ____
Mamidala Som Praneeth Babu  ·  CB.SC.U4AIE24029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Research Is Slow, Expensive, and Inaccessible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505935"/>
              </p:ext>
            </p:extLst>
          </p:nvPr>
        </p:nvGraphicFramePr>
        <p:xfrm>
          <a:off x="548640" y="1600200"/>
          <a:ext cx="6492240" cy="310896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Lawyers and students spend hours manually reading lengthy court judgments to find specific rulings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tools like Westlaw and LexisNexis are proprietary and expensive — not accessible to students or citizens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PDFs are unstructured — no way to ask a plain-English question and get a direct 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9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open, cloud-native tool lets you upload any legal document and query it conversationally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272067" y="1430536"/>
            <a:ext cx="4804913" cy="6395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413864" y="2249108"/>
            <a:ext cx="4089288" cy="7355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659075" y="6346088"/>
            <a:ext cx="4089288" cy="19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50448" y="4595012"/>
            <a:ext cx="4297680" cy="1737360"/>
          </a:xfrm>
          <a:prstGeom prst="roundRect">
            <a:avLst>
              <a:gd name="adj" fmla="val 5263"/>
            </a:avLst>
          </a:prstGeom>
          <a:solidFill>
            <a:srgbClr val="EFEAD9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5751377" y="5070424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</a:t>
            </a:r>
            <a:r>
              <a:rPr lang="en-US" sz="1300" i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open, cloud-native system combines legal document upload, semantic search, and conversational AI in one place.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4BB464D0-4FA2-5418-CCAA-A8B7501DCB30}"/>
              </a:ext>
            </a:extLst>
          </p:cNvPr>
          <p:cNvSpPr/>
          <p:nvPr/>
        </p:nvSpPr>
        <p:spPr>
          <a:xfrm>
            <a:off x="776378" y="4608728"/>
            <a:ext cx="4297680" cy="1737360"/>
          </a:xfrm>
          <a:prstGeom prst="roundRect">
            <a:avLst>
              <a:gd name="adj" fmla="val 5263"/>
            </a:avLst>
          </a:prstGeom>
          <a:solidFill>
            <a:srgbClr val="EFEAD9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pPr algn="ctr"/>
            <a:r>
              <a:rPr lang="en-US" sz="3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 min</a:t>
            </a:r>
            <a:endParaRPr lang="en-US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FD8A7B-378F-AA05-4955-1786C695D72D}"/>
              </a:ext>
            </a:extLst>
          </p:cNvPr>
          <p:cNvSpPr txBox="1"/>
          <p:nvPr/>
        </p:nvSpPr>
        <p:spPr>
          <a:xfrm>
            <a:off x="1069675" y="5227608"/>
            <a:ext cx="377837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manually find one ruling inside a 48-page Supreme Court judgment</a:t>
            </a:r>
            <a:endParaRPr lang="en-US" sz="14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 Comparison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0175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Q&amp;A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Own Docs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legal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proprietary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LexisNexis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legal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proprietary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grounding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NotebookLM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PDF/TXT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Azure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r>
              <a:rPr lang="en-US" sz="13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system combines legal-domain focus, PDF upload, grounded AI answers, and cloud deployment.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C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92608" cy="292608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86537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where users upload legal PDFs and query them in plain English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292608" cy="292608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87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243230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Retrieval-Augmented Generation (RAG) to ground every answer in the actual document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292608" cy="292608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54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99923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uploaded PDFs in cloud object storage (Azure Blob)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292608" cy="292608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210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35661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full system on Microsoft Azure using PaaS services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87952"/>
            <a:ext cx="292608" cy="292608"/>
          </a:xfrm>
          <a:prstGeom prst="ellipse">
            <a:avLst/>
          </a:prstGeom>
          <a:solidFill>
            <a:srgbClr val="15223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87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413308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session-based multi-user querying with conversation history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78040" y="1554480"/>
            <a:ext cx="44805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06640" y="2011680"/>
            <a:ext cx="40690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PDF and TXT legal documents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strictly in indexed documents — no hallucination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indexed demo documents: Smith v. Johnson (US) and Rajnesh vs. Neha, Supreme Court India (2020)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Demonstrator with real documents — not a production legal platform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78040" y="4297680"/>
            <a:ext cx="4480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06640" y="4754880"/>
            <a:ext cx="4069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✕"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court database integration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✕"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/ image-based PDFs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✕"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✕"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Needs a Cloud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workload demands it — not a preference, a requirement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181965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is CPU-heavy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508760" y="21488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 (768D) is slow to run locally on every query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508760" y="236829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must scale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508760" y="264261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 across thousands of chunks needs a managed index, not a local file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508760" y="309981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needs GPU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508760" y="34290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is impossible on a laptop — trivial via the Groq Cloud API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508760" y="3635171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grows indefinitely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508760" y="397125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storage is unbounded and unsuited to app-server disk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79120" y="52578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/>
        </p:spPr>
      </p:sp>
      <p:sp>
        <p:nvSpPr>
          <p:cNvPr id="26" name="Text 20"/>
          <p:cNvSpPr/>
          <p:nvPr/>
        </p:nvSpPr>
        <p:spPr>
          <a:xfrm>
            <a:off x="731520" y="5349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31520" y="558698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— Azure App Service runs the container, no VM/OS management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297680" y="52578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/>
        </p:spPr>
      </p:sp>
      <p:sp>
        <p:nvSpPr>
          <p:cNvPr id="29" name="Text 23"/>
          <p:cNvSpPr/>
          <p:nvPr/>
        </p:nvSpPr>
        <p:spPr>
          <a:xfrm>
            <a:off x="4480560" y="5349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480560" y="558698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— Microsoft Azure + external managed APIs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8046720" y="52578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/>
        </p:spPr>
      </p:sp>
      <p:sp>
        <p:nvSpPr>
          <p:cNvPr id="32" name="Text 26"/>
          <p:cNvSpPr/>
          <p:nvPr/>
        </p:nvSpPr>
        <p:spPr>
          <a:xfrm>
            <a:off x="8229600" y="5349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MODEL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8229600" y="558698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decoupled from compute — each scales independently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DE1A323-A88F-0369-8C89-D9C37EEAC775}"/>
              </a:ext>
            </a:extLst>
          </p:cNvPr>
          <p:cNvSpPr/>
          <p:nvPr/>
        </p:nvSpPr>
        <p:spPr>
          <a:xfrm>
            <a:off x="845389" y="1699404"/>
            <a:ext cx="5046453" cy="2820492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Concepts Applied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1089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delivery &amp; deployment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C6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 (Azure App Service), Public 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compute &amp; object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C6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App Service, Azure Blob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C6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Azure Container Registry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FEAD9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0749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r>
              <a:rPr lang="en-US" sz="1300" i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course unit maps to a real, working decision in this project — not a theoretical checklist. The architecture is chosen because the workload needs it, and the course concepts explain why.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4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635240" cy="4160520"/>
          </a:xfrm>
          <a:prstGeom prst="roundRect">
            <a:avLst>
              <a:gd name="adj" fmla="val 2198"/>
            </a:avLst>
          </a:prstGeom>
          <a:solidFill>
            <a:srgbClr val="1B2F4E"/>
          </a:solidFill>
          <a:ln w="12700">
            <a:solidFill>
              <a:srgbClr val="748CA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2743200" cy="868680"/>
          </a:xfrm>
          <a:prstGeom prst="roundRect">
            <a:avLst>
              <a:gd name="adj" fmla="val 7368"/>
            </a:avLst>
          </a:prstGeom>
          <a:solidFill>
            <a:srgbClr val="1E3350"/>
          </a:solidFill>
          <a:ln w="12700">
            <a:solidFill>
              <a:srgbClr val="4C6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2180844"/>
            <a:ext cx="438912" cy="438912"/>
          </a:xfrm>
          <a:prstGeom prst="ellipse">
            <a:avLst/>
          </a:prstGeom>
          <a:solidFill>
            <a:srgbClr val="4C6A8A"/>
          </a:solidFill>
          <a:ln/>
        </p:spPr>
      </p:sp>
      <p:pic>
        <p:nvPicPr>
          <p:cNvPr id="8" name="Image 0" descr="/home/claude/legalrag_ppt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55" y="2237903"/>
            <a:ext cx="324795" cy="3247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Static Web Apps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527048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0" y="1965960"/>
            <a:ext cx="2834640" cy="868680"/>
          </a:xfrm>
          <a:prstGeom prst="roundRect">
            <a:avLst>
              <a:gd name="adj" fmla="val 7368"/>
            </a:avLst>
          </a:prstGeom>
          <a:solidFill>
            <a:srgbClr val="1E3350"/>
          </a:solidFill>
          <a:ln w="12700">
            <a:solidFill>
              <a:srgbClr val="4C6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57216" y="2180844"/>
            <a:ext cx="438912" cy="438912"/>
          </a:xfrm>
          <a:prstGeom prst="ellipse">
            <a:avLst/>
          </a:prstGeom>
          <a:solidFill>
            <a:srgbClr val="4C6A8A"/>
          </a:solidFill>
          <a:ln/>
        </p:spPr>
      </p:sp>
      <p:pic>
        <p:nvPicPr>
          <p:cNvPr id="13" name="Image 1" descr="/home/claude/legalrag_ppt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275" y="2237903"/>
            <a:ext cx="324795" cy="32479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87568" y="2057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687568" y="2331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(Docker), Port 8000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11880" y="2395728"/>
            <a:ext cx="141732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17" name="Text 13"/>
          <p:cNvSpPr/>
          <p:nvPr/>
        </p:nvSpPr>
        <p:spPr>
          <a:xfrm>
            <a:off x="3657600" y="20756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4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446520" y="2834640"/>
            <a:ext cx="0" cy="50292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868680" y="370332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1E3350"/>
          </a:solidFill>
          <a:ln w="12700">
            <a:solidFill>
              <a:srgbClr val="4C6A8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96696" y="4009644"/>
            <a:ext cx="438912" cy="438912"/>
          </a:xfrm>
          <a:prstGeom prst="ellipse">
            <a:avLst/>
          </a:prstGeom>
          <a:solidFill>
            <a:srgbClr val="4C6A8A"/>
          </a:solidFill>
          <a:ln/>
        </p:spPr>
      </p:sp>
      <p:pic>
        <p:nvPicPr>
          <p:cNvPr id="21" name="Image 2" descr="/home/claude/legalrag_ppt/icons/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755" y="4066703"/>
            <a:ext cx="324795" cy="32479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27048" y="3794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527048" y="4069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files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383280" y="370332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1E3350"/>
          </a:solidFill>
          <a:ln w="12700">
            <a:solidFill>
              <a:srgbClr val="4C6A8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511296" y="4009644"/>
            <a:ext cx="438912" cy="438912"/>
          </a:xfrm>
          <a:prstGeom prst="ellipse">
            <a:avLst/>
          </a:prstGeom>
          <a:solidFill>
            <a:srgbClr val="4C6A8A"/>
          </a:solidFill>
          <a:ln/>
        </p:spPr>
      </p:sp>
      <p:pic>
        <p:nvPicPr>
          <p:cNvPr id="26" name="Image 3" descr="/home/claude/legalrag_ppt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8355" y="4066703"/>
            <a:ext cx="324795" cy="32479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041648" y="3794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Serverless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041648" y="4069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— text chunks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897880" y="3703320"/>
            <a:ext cx="1965960" cy="1051560"/>
          </a:xfrm>
          <a:prstGeom prst="roundRect">
            <a:avLst>
              <a:gd name="adj" fmla="val 6087"/>
            </a:avLst>
          </a:prstGeom>
          <a:solidFill>
            <a:srgbClr val="1E3350"/>
          </a:solidFill>
          <a:ln w="12700">
            <a:solidFill>
              <a:srgbClr val="4C6A8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025896" y="4009644"/>
            <a:ext cx="438912" cy="438912"/>
          </a:xfrm>
          <a:prstGeom prst="ellipse">
            <a:avLst/>
          </a:prstGeom>
          <a:solidFill>
            <a:srgbClr val="4C6A8A"/>
          </a:solidFill>
          <a:ln/>
        </p:spPr>
      </p:sp>
      <p:pic>
        <p:nvPicPr>
          <p:cNvPr id="31" name="Image 4" descr="/home/claude/legalrag_ppt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2955" y="4066703"/>
            <a:ext cx="324795" cy="32479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556248" y="3794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Cloud API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6556248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2011680" y="3337560"/>
            <a:ext cx="0" cy="365760"/>
          </a:xfrm>
          <a:prstGeom prst="line">
            <a:avLst/>
          </a:prstGeom>
          <a:noFill/>
          <a:ln w="19050">
            <a:solidFill>
              <a:srgbClr val="748CA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526280" y="3337560"/>
            <a:ext cx="0" cy="365760"/>
          </a:xfrm>
          <a:prstGeom prst="line">
            <a:avLst/>
          </a:prstGeom>
          <a:noFill/>
          <a:ln w="19050">
            <a:solidFill>
              <a:srgbClr val="748CA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858000" y="3337560"/>
            <a:ext cx="0" cy="365760"/>
          </a:xfrm>
          <a:prstGeom prst="line">
            <a:avLst/>
          </a:prstGeom>
          <a:noFill/>
          <a:ln w="19050">
            <a:solidFill>
              <a:srgbClr val="748CAB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2011680" y="3337560"/>
            <a:ext cx="4846320" cy="0"/>
          </a:xfrm>
          <a:prstGeom prst="line">
            <a:avLst/>
          </a:prstGeom>
          <a:noFill/>
          <a:ln w="19050">
            <a:solidFill>
              <a:srgbClr val="748CAB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68680" y="4983480"/>
            <a:ext cx="6995160" cy="457200"/>
          </a:xfrm>
          <a:prstGeom prst="roundRect">
            <a:avLst>
              <a:gd name="adj" fmla="val 12000"/>
            </a:avLst>
          </a:prstGeom>
          <a:solidFill>
            <a:srgbClr val="13233F"/>
          </a:solidFill>
          <a:ln w="9525">
            <a:solidFill>
              <a:srgbClr val="4C6A8A"/>
            </a:solidFill>
            <a:prstDash val="dash"/>
          </a:ln>
        </p:spPr>
      </p:sp>
      <p:sp>
        <p:nvSpPr>
          <p:cNvPr id="39" name="Text 32"/>
          <p:cNvSpPr/>
          <p:nvPr/>
        </p:nvSpPr>
        <p:spPr>
          <a:xfrm>
            <a:off x="1005840" y="4983480"/>
            <a:ext cx="6720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 GitHub Actions  →  Azure Container Registry  →  App Service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8503920" y="1417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8503920" y="1783080"/>
            <a:ext cx="310896" cy="3108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42" name="Text 35"/>
          <p:cNvSpPr/>
          <p:nvPr/>
        </p:nvSpPr>
        <p:spPr>
          <a:xfrm>
            <a:off x="8503920" y="1783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8942832" y="1709928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PDF → stored in Azure Blob Storage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8503920" y="2743200"/>
            <a:ext cx="310896" cy="3108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45" name="Text 38"/>
          <p:cNvSpPr/>
          <p:nvPr/>
        </p:nvSpPr>
        <p:spPr>
          <a:xfrm>
            <a:off x="8503920" y="2743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8942832" y="2670048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extracted → chunked → embedded → stored in Pinecone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8503920" y="3703320"/>
            <a:ext cx="310896" cy="3108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48" name="Text 41"/>
          <p:cNvSpPr/>
          <p:nvPr/>
        </p:nvSpPr>
        <p:spPr>
          <a:xfrm>
            <a:off x="8503920" y="3703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8942832" y="3630168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question → multi-query retrieval from Pinecone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1" name="Text 44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Text 45"/>
          <p:cNvSpPr/>
          <p:nvPr/>
        </p:nvSpPr>
        <p:spPr>
          <a:xfrm>
            <a:off x="8942832" y="4590288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+ question → Groq (Llama 3.3) → answer returned</a:t>
            </a:r>
            <a:endParaRPr lang="en-US" sz="1050" dirty="0"/>
          </a:p>
        </p:txBody>
      </p:sp>
      <p:sp>
        <p:nvSpPr>
          <p:cNvPr id="53" name="Text 4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Services &amp; Tech Stack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452360" cy="3840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Static Web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E96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compute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App Service (Docker)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E96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E96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registry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Container Registry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E96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+ ACR webhook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+ 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E96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 Serverless (AWS us-east-1)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inference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Cloud — Llama 3.3 70B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 all-mpnet-base-v2 (768D)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App Configuration / .env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E96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8229600" y="4160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58200" y="43434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running and callable today
</a:t>
            </a:r>
            <a:r>
              <a:rPr lang="en-US" sz="1100" b="1" dirty="0">
                <a:solidFill>
                  <a:srgbClr val="8E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1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designed and coded for, not yet deployed to Azure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Implemented — Backend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6" name="Image 0" descr="/home/claude/legalrag_ppt/icons/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00" y="18027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7992" y="18470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21284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PDF/TXT, extracts text via pypdf, chunks with RecursiveCharacterTextSplitter (1500 chars, 300 overlap), embeds and stores in Pinecone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059168" y="17190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0" y="221284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retrieval (3 query variants per question), MMR search (k=6, fetch_k=20), deduplication, context assembly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31089" y="3378277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1520" y="376732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via Groq, grounded strictly in retrieved context, temperature=0.1 for factual accuracy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1792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059168" y="32735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0" y="376732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UUID-based sessions, 30-minute timeout, conversation history (last 10 exchanges)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6634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31520" y="49103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31520" y="532180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requests/minute per IP, enforced at the API layer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46634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059168" y="48280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00800" y="532180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length 3–2000 chars, file size max 20MB, PDF/TXT only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Implemented — Frontend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89888" y="17190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21284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Q&amp;A with markdown rendering, typing indicator, auto-scroll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059168" y="17190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Modal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0" y="221284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PDF/TXT upload with progress feedback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16" name="Image 2" descr="/home/claude/legalrag_ppt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00" y="335722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32735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Documents Sidebar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1520" y="376732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list of uploaded documents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059168" y="32735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Health Monitor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0" y="376732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the root endpoint every 5 seconds, shows online/offline status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6634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26" name="Image 4" descr="/home/claude/legalrag_ppt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00" y="491170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888" y="48280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Tracking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31520" y="532180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active session ID, supports reset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6537960" cy="502920"/>
          </a:xfrm>
          <a:prstGeom prst="roundRect">
            <a:avLst>
              <a:gd name="adj" fmla="val 12727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476756"/>
            <a:ext cx="384048" cy="384048"/>
          </a:xfrm>
          <a:prstGeom prst="ellipse">
            <a:avLst/>
          </a:prstGeom>
          <a:solidFill>
            <a:srgbClr val="152238"/>
          </a:solidFill>
          <a:ln/>
        </p:spPr>
      </p:sp>
      <p:pic>
        <p:nvPicPr>
          <p:cNvPr id="6" name="Image 0" descr="/home/claude/legalrag_ppt/icon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902" y="1526682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4173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91940" y="1920240"/>
            <a:ext cx="0" cy="164592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822960" y="2084832"/>
            <a:ext cx="6537960" cy="658368"/>
          </a:xfrm>
          <a:prstGeom prst="roundRect">
            <a:avLst>
              <a:gd name="adj" fmla="val 9722"/>
            </a:avLst>
          </a:prstGeom>
          <a:solidFill>
            <a:srgbClr val="1E3350"/>
          </a:solidFill>
          <a:ln w="12700">
            <a:solidFill>
              <a:srgbClr val="4C6A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0976" y="2221992"/>
            <a:ext cx="384048" cy="384048"/>
          </a:xfrm>
          <a:prstGeom prst="ellipse">
            <a:avLst/>
          </a:prstGeom>
          <a:solidFill>
            <a:srgbClr val="4C6A8A"/>
          </a:solidFill>
          <a:ln/>
        </p:spPr>
      </p:sp>
      <p:pic>
        <p:nvPicPr>
          <p:cNvPr id="11" name="Image 1" descr="/home/claude/legalrag_ppt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902" y="2271918"/>
            <a:ext cx="284196" cy="2841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215798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Generation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81328" y="2414016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+ 2 variants (factual angle + legal angle)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091940" y="2743200"/>
            <a:ext cx="0" cy="164592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22960" y="2907792"/>
            <a:ext cx="6537960" cy="658368"/>
          </a:xfrm>
          <a:prstGeom prst="roundRect">
            <a:avLst>
              <a:gd name="adj" fmla="val 9722"/>
            </a:avLst>
          </a:prstGeom>
          <a:solidFill>
            <a:srgbClr val="1E3350"/>
          </a:solidFill>
          <a:ln w="12700">
            <a:solidFill>
              <a:srgbClr val="4C6A8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0976" y="3044952"/>
            <a:ext cx="384048" cy="384048"/>
          </a:xfrm>
          <a:prstGeom prst="ellipse">
            <a:avLst/>
          </a:prstGeom>
          <a:solidFill>
            <a:srgbClr val="4C6A8A"/>
          </a:solidFill>
          <a:ln/>
        </p:spPr>
      </p:sp>
      <p:pic>
        <p:nvPicPr>
          <p:cNvPr id="17" name="Image 2" descr="/home/claude/legalrag_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902" y="3094878"/>
            <a:ext cx="284196" cy="2841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81328" y="298094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MMR Retrieval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81328" y="3236976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 per query, fetch_k=20, deduplication → ~12 unique chunks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091940" y="3566160"/>
            <a:ext cx="0" cy="164592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822960" y="3730752"/>
            <a:ext cx="6537960" cy="749808"/>
          </a:xfrm>
          <a:prstGeom prst="roundRect">
            <a:avLst>
              <a:gd name="adj" fmla="val 8537"/>
            </a:avLst>
          </a:prstGeom>
          <a:solidFill>
            <a:srgbClr val="1E3350"/>
          </a:solidFill>
          <a:ln w="12700">
            <a:solidFill>
              <a:srgbClr val="4C6A8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50976" y="3913632"/>
            <a:ext cx="384048" cy="384048"/>
          </a:xfrm>
          <a:prstGeom prst="ellipse">
            <a:avLst/>
          </a:prstGeom>
          <a:solidFill>
            <a:srgbClr val="4C6A8A"/>
          </a:solidFill>
          <a:ln/>
        </p:spPr>
      </p:sp>
      <p:pic>
        <p:nvPicPr>
          <p:cNvPr id="23" name="Image 3" descr="/home/claude/legalrag_ppt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902" y="3963558"/>
            <a:ext cx="284196" cy="2841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81328" y="380390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481328" y="4059936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has [CASE HEADER] prepended — party names &amp; case number always present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091940" y="4480560"/>
            <a:ext cx="0" cy="164592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822960" y="4645152"/>
            <a:ext cx="6537960" cy="658368"/>
          </a:xfrm>
          <a:prstGeom prst="roundRect">
            <a:avLst>
              <a:gd name="adj" fmla="val 9722"/>
            </a:avLst>
          </a:prstGeom>
          <a:solidFill>
            <a:srgbClr val="1E3350"/>
          </a:solidFill>
          <a:ln w="12700">
            <a:solidFill>
              <a:srgbClr val="4C6A8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50976" y="4782312"/>
            <a:ext cx="384048" cy="384048"/>
          </a:xfrm>
          <a:prstGeom prst="ellipse">
            <a:avLst/>
          </a:prstGeom>
          <a:solidFill>
            <a:srgbClr val="4C6A8A"/>
          </a:solidFill>
          <a:ln/>
        </p:spPr>
      </p:sp>
      <p:pic>
        <p:nvPicPr>
          <p:cNvPr id="29" name="Image 4" descr="/home/claude/legalrag_ppt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902" y="4832238"/>
            <a:ext cx="284196" cy="2841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81328" y="471830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— Llama 3.3 70B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481328" y="4974336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grounding prompt · temperature=0.1 · max_tokens=2048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4091940" y="5303520"/>
            <a:ext cx="0" cy="164592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822960" y="5468112"/>
            <a:ext cx="6537960" cy="502920"/>
          </a:xfrm>
          <a:prstGeom prst="roundRect">
            <a:avLst>
              <a:gd name="adj" fmla="val 12727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50976" y="5527548"/>
            <a:ext cx="384048" cy="384048"/>
          </a:xfrm>
          <a:prstGeom prst="ellipse">
            <a:avLst/>
          </a:prstGeom>
          <a:solidFill>
            <a:srgbClr val="152238"/>
          </a:solidFill>
          <a:ln/>
        </p:spPr>
      </p:sp>
      <p:pic>
        <p:nvPicPr>
          <p:cNvPr id="35" name="Image 5" descr="/home/claude/legalrag_ppt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902" y="5577474"/>
            <a:ext cx="284196" cy="28419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481328" y="546811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7680960" y="1417320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1B2F4E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790956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7909560" y="19202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header — the first 1200 characters of the document — is prepended to every chunk, so party names and case metadata are always in context regardless of which chunk is retrieved.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7680960" y="374904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1E3350"/>
          </a:solidFill>
          <a:ln w="12700">
            <a:solidFill>
              <a:srgbClr val="4C6A8A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7909560" y="3913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4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MULTI-QUERY?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7909560" y="4224528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questions can be phrased factually or in legal terms — generating query variants widens retrieval coverage before deduplicating down to the strongest chunks.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858000" cy="3072384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C6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/chat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documents with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C6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/upload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and index PDF/TXT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/session/{id}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a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C6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/session/reset/{id}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conversation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/sessions/count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session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/sources/{id}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session document references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0876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152238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— Example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20116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4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63840" y="2267712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"text": "Who are the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parties in Rajnesh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vs Neha?",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"session_id": "abc123"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863840" y="3749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48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63840" y="400507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"response": "The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parties are Rajnesh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(appellant/husband)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Neha...",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"session_id": "abc123"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Codebase, Two Environments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25146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Env Var Is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 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Otherwise (Local)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AZURE_STORAGE_CONNECTION_STRING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Storage for PDFs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temp file (deleted after indexing)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PINECONE_API_KEY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 Serverless (cloud)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— no local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GROQ_API_KEY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Cloud 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— no local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Azure 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8000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5038344"/>
            <a:ext cx="182880" cy="1828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937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same Docker container — cloud binding is configuration, not a rewrite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5495544"/>
            <a:ext cx="182880" cy="1828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394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with a .env file for development — doesn't burn Azure credits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952744"/>
            <a:ext cx="182880" cy="1828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5852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Azure is an App Service environment-variable change, not a code change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Screens to Capture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to be completed with live screenshots before presenting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4C6A8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034540" y="2057400"/>
            <a:ext cx="548640" cy="548640"/>
          </a:xfrm>
          <a:prstGeom prst="ellipse">
            <a:avLst/>
          </a:prstGeom>
          <a:solidFill>
            <a:srgbClr val="E4E9F1"/>
          </a:solidFill>
          <a:ln/>
        </p:spPr>
      </p:sp>
      <p:pic>
        <p:nvPicPr>
          <p:cNvPr id="7" name="Image 0" descr="/home/claude/legalrag_ppt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863" y="2128723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743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with sample questions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4C6A8A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783580" y="2057400"/>
            <a:ext cx="548640" cy="548640"/>
          </a:xfrm>
          <a:prstGeom prst="ellipse">
            <a:avLst/>
          </a:prstGeom>
          <a:solidFill>
            <a:srgbClr val="E4E9F1"/>
          </a:solidFill>
          <a:ln/>
        </p:spPr>
      </p:sp>
      <p:pic>
        <p:nvPicPr>
          <p:cNvPr id="12" name="Image 1" descr="/home/claude/legalrag_ppt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903" y="212872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2743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48056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2024072220.pdf (Rajnesh vs Neha)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4672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4C6A8A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9532620" y="2057400"/>
            <a:ext cx="548640" cy="548640"/>
          </a:xfrm>
          <a:prstGeom prst="ellipse">
            <a:avLst/>
          </a:prstGeom>
          <a:solidFill>
            <a:srgbClr val="E4E9F1"/>
          </a:solidFill>
          <a:ln/>
        </p:spPr>
      </p:sp>
      <p:pic>
        <p:nvPicPr>
          <p:cNvPr id="17" name="Image 2" descr="/home/claude/legalrag_ppt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943" y="2128723"/>
            <a:ext cx="405994" cy="4059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3880" y="2743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3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22960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“Who are the parties and what maintenance was awarded?”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53746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4C6A8A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4023360" y="4343400"/>
            <a:ext cx="548640" cy="548640"/>
          </a:xfrm>
          <a:prstGeom prst="ellipse">
            <a:avLst/>
          </a:prstGeom>
          <a:solidFill>
            <a:srgbClr val="E4E9F1"/>
          </a:solidFill>
          <a:ln/>
        </p:spPr>
      </p:sp>
      <p:pic>
        <p:nvPicPr>
          <p:cNvPr id="22" name="Image 3" descr="/home/claude/legalrag_ppt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683" y="4414723"/>
            <a:ext cx="405994" cy="4059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674620" y="5029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4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2720340" y="5303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“From what date should maintenance be paid?”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51510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4C6A8A"/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8001000" y="4343400"/>
            <a:ext cx="548640" cy="548640"/>
          </a:xfrm>
          <a:prstGeom prst="ellipse">
            <a:avLst/>
          </a:prstGeom>
          <a:solidFill>
            <a:srgbClr val="E4E9F1"/>
          </a:solidFill>
          <a:ln/>
        </p:spPr>
      </p:sp>
      <p:pic>
        <p:nvPicPr>
          <p:cNvPr id="27" name="Image 4" descr="/home/claude/legalrag_ppt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323" y="4414723"/>
            <a:ext cx="405994" cy="40599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52260" y="5029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5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697980" y="5303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showing indexed documents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51560" y="17830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breaking changes — the langchain-community Pinecone integration was sunset mid-project; migrated to the standalone langchain-pinecone package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051560" y="253288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rename — pinecone-client renamed to pinecone; caused import failures until resolved</a:t>
            </a:r>
            <a:endParaRPr lang="en-US" sz="1050" dirty="0"/>
          </a:p>
        </p:txBody>
      </p:sp>
      <p:pic>
        <p:nvPicPr>
          <p:cNvPr id="12" name="Image 2" descr="/home/claude/legalrag_ppt/icons/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9" y="3375965"/>
            <a:ext cx="270662" cy="270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28269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Cross-case contamination — retriever mixed Smith v. Johnson chunks into Rajnesh vs. Neha answers; fixed with MMR search + case-header injection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1051560" y="403250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PDF limitation — pypdf cannot extract text from image-based PDFs; documented as a known limitation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1051560" y="478231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conflicts — sentence-transformers missing from system Python; resolved with an explicit install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640080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574536" y="2194560"/>
            <a:ext cx="0" cy="256032"/>
          </a:xfrm>
          <a:prstGeom prst="line">
            <a:avLst/>
          </a:prstGeom>
          <a:noFill/>
          <a:ln w="19050">
            <a:solidFill>
              <a:srgbClr val="DCE1E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400800" y="1828800"/>
            <a:ext cx="347472" cy="347472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3" name="Text 16"/>
          <p:cNvSpPr/>
          <p:nvPr/>
        </p:nvSpPr>
        <p:spPr>
          <a:xfrm>
            <a:off x="6400800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903720" y="18013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backend to Azure App Service via Docker + ACR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574536" y="2816352"/>
            <a:ext cx="0" cy="256032"/>
          </a:xfrm>
          <a:prstGeom prst="line">
            <a:avLst/>
          </a:prstGeom>
          <a:noFill/>
          <a:ln w="19050">
            <a:solidFill>
              <a:srgbClr val="DCE1E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00800" y="2450592"/>
            <a:ext cx="347472" cy="347472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7" name="Text 20"/>
          <p:cNvSpPr/>
          <p:nvPr/>
        </p:nvSpPr>
        <p:spPr>
          <a:xfrm>
            <a:off x="6400800" y="2450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903720" y="2423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frontend to Azure Static Web Apps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574536" y="3438144"/>
            <a:ext cx="0" cy="256032"/>
          </a:xfrm>
          <a:prstGeom prst="line">
            <a:avLst/>
          </a:prstGeom>
          <a:noFill/>
          <a:ln w="19050">
            <a:solidFill>
              <a:srgbClr val="DCE1E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0800" y="3072384"/>
            <a:ext cx="347472" cy="347472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31" name="Text 24"/>
          <p:cNvSpPr/>
          <p:nvPr/>
        </p:nvSpPr>
        <p:spPr>
          <a:xfrm>
            <a:off x="6400800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903720" y="30449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Azure Blob Storage for persistent PDF storage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574536" y="4059936"/>
            <a:ext cx="0" cy="256032"/>
          </a:xfrm>
          <a:prstGeom prst="line">
            <a:avLst/>
          </a:prstGeom>
          <a:noFill/>
          <a:ln w="19050">
            <a:solidFill>
              <a:srgbClr val="DCE1E8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400800" y="3694176"/>
            <a:ext cx="347472" cy="347472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35" name="Text 28"/>
          <p:cNvSpPr/>
          <p:nvPr/>
        </p:nvSpPr>
        <p:spPr>
          <a:xfrm>
            <a:off x="6400800" y="3694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903720" y="3666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GitHub Actions CI/CD pipeline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574536" y="4681728"/>
            <a:ext cx="0" cy="256032"/>
          </a:xfrm>
          <a:prstGeom prst="line">
            <a:avLst/>
          </a:prstGeom>
          <a:noFill/>
          <a:ln w="19050">
            <a:solidFill>
              <a:srgbClr val="DCE1E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400800" y="4315968"/>
            <a:ext cx="347472" cy="347472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39" name="Text 32"/>
          <p:cNvSpPr/>
          <p:nvPr/>
        </p:nvSpPr>
        <p:spPr>
          <a:xfrm>
            <a:off x="6400800" y="4315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6903720" y="42885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Azure Application Insights for monitoring &amp; telemetry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400800" y="4937760"/>
            <a:ext cx="347472" cy="347472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42" name="Text 35"/>
          <p:cNvSpPr/>
          <p:nvPr/>
        </p:nvSpPr>
        <p:spPr>
          <a:xfrm>
            <a:off x="6400800" y="4937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6903720" y="49103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OCR support for scanned PDFs via Azure AI Document Intelligence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673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Documentation — App Service, Blob Storage, Static Web Apps, Container Registry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1560" y="2194560"/>
            <a:ext cx="103327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29514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Documentation — Serverless Index, Python SDK — pinecone.io/docs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2816352"/>
            <a:ext cx="103327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91693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Documentation — Llama 3.3 70B Inference API — console.groq.com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51560" y="3438144"/>
            <a:ext cx="103327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5387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Documentation — RAG, Retrieval Chains — python.langchain.com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4059936"/>
            <a:ext cx="103327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160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— sentence-transformers/all-mpnet-base-v2 model card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51560" y="4681728"/>
            <a:ext cx="103327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7823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 of India — Rajnesh vs. Neha and Ors. — MANU/SC/0833/2020 (04.11.2020)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5303520"/>
            <a:ext cx="103327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422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54041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guidelines — 22AIE305 Introduction to Cloud Computing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 ·  22AIE305 Introduction to Cloud Computing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82996" y="1371600"/>
            <a:ext cx="822960" cy="8229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5" name="Image 0" descr="/home/claude/legalrag_ppt/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981" y="14785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4688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LegalRAG — Making legal knowledge accessible through cloud-native AI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14316" y="3977640"/>
            <a:ext cx="2560320" cy="0"/>
          </a:xfrm>
          <a:prstGeom prst="line">
            <a:avLst/>
          </a:prstGeom>
          <a:noFill/>
          <a:ln w="12700">
            <a:solidFill>
              <a:srgbClr val="748C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1605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Mamidala Som Praneeth Babu   ·   CB.SC.U4AIE24029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4462272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5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22AIE305 · Introduction to Cloud Computing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1887</Words>
  <Application>Microsoft Office PowerPoint</Application>
  <PresentationFormat>Widescreen</PresentationFormat>
  <Paragraphs>392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MAMIDALA SOM PRANEETH BABU - [CB.SC.U4AIE24029]</cp:lastModifiedBy>
  <cp:revision>2</cp:revision>
  <dcterms:created xsi:type="dcterms:W3CDTF">2026-08-16T08:50:34Z</dcterms:created>
  <dcterms:modified xsi:type="dcterms:W3CDTF">2026-08-16T09:22:52Z</dcterms:modified>
</cp:coreProperties>
</file>